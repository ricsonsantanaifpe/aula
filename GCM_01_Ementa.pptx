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6" r:id="rId2"/>
    <p:sldId id="277" r:id="rId3"/>
    <p:sldId id="297" r:id="rId4"/>
    <p:sldId id="307" r:id="rId5"/>
    <p:sldId id="300" r:id="rId6"/>
    <p:sldId id="306" r:id="rId7"/>
    <p:sldId id="305" r:id="rId8"/>
    <p:sldId id="287" r:id="rId9"/>
    <p:sldId id="288" r:id="rId10"/>
    <p:sldId id="289" r:id="rId11"/>
    <p:sldId id="290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70" autoAdjust="0"/>
    <p:restoredTop sz="94660"/>
  </p:normalViewPr>
  <p:slideViewPr>
    <p:cSldViewPr>
      <p:cViewPr varScale="1">
        <p:scale>
          <a:sx n="78" d="100"/>
          <a:sy n="78" d="100"/>
        </p:scale>
        <p:origin x="172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3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5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7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4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8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5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5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6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2461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06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1021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43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3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7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https://git-scm.com/book/pt-br/v2&amp;authuser=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Script de computador em uma tela">
            <a:extLst>
              <a:ext uri="{FF2B5EF4-FFF2-40B4-BE49-F238E27FC236}">
                <a16:creationId xmlns:a16="http://schemas.microsoft.com/office/drawing/2014/main" id="{408EF9D1-8169-4F88-A84D-2D261C3DDDC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7018" r="41406" b="-2"/>
          <a:stretch>
            <a:fillRect/>
          </a:stretch>
        </p:blipFill>
        <p:spPr>
          <a:xfrm>
            <a:off x="3842657" y="-1"/>
            <a:ext cx="529896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434" y="2854840"/>
            <a:ext cx="3842636" cy="2369093"/>
          </a:xfrm>
        </p:spPr>
        <p:txBody>
          <a:bodyPr>
            <a:normAutofit fontScale="90000"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Gerenciamento de Configuração e Mudanças</a:t>
            </a:r>
            <a:br>
              <a:rPr lang="pt-BR" sz="2800" dirty="0">
                <a:solidFill>
                  <a:schemeClr val="tx1"/>
                </a:solidFill>
              </a:rPr>
            </a:br>
            <a:br>
              <a:rPr lang="pt-BR" sz="2800">
                <a:solidFill>
                  <a:schemeClr val="tx1"/>
                </a:solidFill>
              </a:rPr>
            </a:br>
            <a:r>
              <a:rPr lang="pt-BR" sz="2800">
                <a:solidFill>
                  <a:schemeClr val="tx1"/>
                </a:solidFill>
              </a:rPr>
              <a:t>Ementa</a:t>
            </a:r>
            <a:br>
              <a:rPr lang="pt-BR" sz="2800" dirty="0">
                <a:solidFill>
                  <a:schemeClr val="tx1"/>
                </a:solidFill>
              </a:rPr>
            </a:b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Prof. </a:t>
            </a:r>
            <a:r>
              <a:rPr lang="pt-BR" sz="2800" dirty="0" err="1">
                <a:solidFill>
                  <a:schemeClr val="tx1"/>
                </a:solidFill>
              </a:rPr>
              <a:t>Ricson</a:t>
            </a:r>
            <a:r>
              <a:rPr lang="pt-BR" sz="2800" dirty="0">
                <a:solidFill>
                  <a:schemeClr val="tx1"/>
                </a:solidFill>
              </a:rPr>
              <a:t> Santana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4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59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3048000"/>
            <a:ext cx="7772400" cy="990600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Professor </a:t>
            </a:r>
            <a:r>
              <a:rPr lang="pt-BR" b="1" dirty="0">
                <a:solidFill>
                  <a:schemeClr val="tx1"/>
                </a:solidFill>
              </a:rPr>
              <a:t>Ricson Santana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Ricson.Santana@palmares.ifpe.edu.br</a:t>
            </a:r>
          </a:p>
        </p:txBody>
      </p:sp>
    </p:spTree>
    <p:extLst>
      <p:ext uri="{BB962C8B-B14F-4D97-AF65-F5344CB8AC3E}">
        <p14:creationId xmlns:p14="http://schemas.microsoft.com/office/powerpoint/2010/main" val="207363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da Disciplina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828800"/>
            <a:ext cx="6858002" cy="4212563"/>
          </a:xfrm>
        </p:spPr>
        <p:txBody>
          <a:bodyPr>
            <a:normAutofit/>
          </a:bodyPr>
          <a:lstStyle/>
          <a:p>
            <a:r>
              <a:rPr lang="pt-BR" dirty="0"/>
              <a:t>Introdução à cultura </a:t>
            </a:r>
            <a:r>
              <a:rPr lang="pt-BR" dirty="0" err="1"/>
              <a:t>DevOps</a:t>
            </a:r>
            <a:r>
              <a:rPr lang="pt-BR" dirty="0"/>
              <a:t>; </a:t>
            </a:r>
          </a:p>
          <a:p>
            <a:r>
              <a:rPr lang="pt-BR" dirty="0"/>
              <a:t>rastreamento de tarefas e ferramentas de </a:t>
            </a:r>
            <a:r>
              <a:rPr lang="pt-BR" dirty="0" err="1"/>
              <a:t>Issue</a:t>
            </a:r>
            <a:r>
              <a:rPr lang="pt-BR" dirty="0"/>
              <a:t> Tracking; </a:t>
            </a:r>
          </a:p>
          <a:p>
            <a:r>
              <a:rPr lang="pt-BR" dirty="0"/>
              <a:t>versionamento de código: repositórios remotos, estratégias de ramificação e fluxos colaborativos; </a:t>
            </a:r>
          </a:p>
          <a:p>
            <a:r>
              <a:rPr lang="pt-BR" dirty="0"/>
              <a:t>gestão de pacotes e dependências; </a:t>
            </a:r>
          </a:p>
          <a:p>
            <a:r>
              <a:rPr lang="pt-BR" dirty="0"/>
              <a:t>introdução a conteinerização (Docker); </a:t>
            </a:r>
          </a:p>
          <a:p>
            <a:r>
              <a:rPr lang="pt-BR" dirty="0"/>
              <a:t>fundamentos de Integração Contínua (CI) e Entrega Contínua (CD); </a:t>
            </a:r>
          </a:p>
          <a:p>
            <a:r>
              <a:rPr lang="pt-BR" dirty="0"/>
              <a:t>automação de builds e testes em esteiras; </a:t>
            </a:r>
          </a:p>
          <a:p>
            <a:r>
              <a:rPr lang="pt-BR" dirty="0"/>
              <a:t>construção prática de pipelines automatizados.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372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D7D0B-7DDA-CB2C-8888-EAAECC69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6815B-E246-A7E3-DA89-A159DCF49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7BFF1A-2233-F8E1-BCF6-B7601D97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136" y="2160590"/>
            <a:ext cx="3486637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2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Bibliografias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CHACON, Scott; STRAUB, Ben. </a:t>
            </a:r>
            <a:r>
              <a:rPr lang="pt-BR" i="1" dirty="0"/>
              <a:t>Pro </a:t>
            </a:r>
            <a:r>
              <a:rPr lang="pt-BR" i="1" dirty="0" err="1"/>
              <a:t>Git</a:t>
            </a:r>
            <a:r>
              <a:rPr lang="pt-BR" dirty="0"/>
              <a:t>. 2. ed. New York: </a:t>
            </a:r>
            <a:r>
              <a:rPr lang="pt-BR" dirty="0" err="1"/>
              <a:t>Apress</a:t>
            </a:r>
            <a:r>
              <a:rPr lang="pt-BR" dirty="0"/>
              <a:t>, 2014. (Disponível em:</a:t>
            </a:r>
            <a:r>
              <a:rPr lang="pt-BR" dirty="0">
                <a:hlinkClick r:id="rId2"/>
              </a:rPr>
              <a:t> </a:t>
            </a:r>
            <a:r>
              <a:rPr lang="pt-BR" u="sng" dirty="0">
                <a:hlinkClick r:id="rId2"/>
              </a:rPr>
              <a:t>https://git-scm.com/book/</a:t>
            </a:r>
            <a:r>
              <a:rPr lang="pt-BR" u="sng" dirty="0" err="1">
                <a:hlinkClick r:id="rId2"/>
              </a:rPr>
              <a:t>pt-br</a:t>
            </a:r>
            <a:r>
              <a:rPr lang="pt-BR" u="sng" dirty="0">
                <a:hlinkClick r:id="rId2"/>
              </a:rPr>
              <a:t>/v2</a:t>
            </a:r>
            <a:r>
              <a:rPr lang="pt-BR" dirty="0"/>
              <a:t>).</a:t>
            </a:r>
          </a:p>
          <a:p>
            <a:pPr fontAlgn="base"/>
            <a:r>
              <a:rPr lang="pt-BR" dirty="0"/>
              <a:t>KIM, Gene et al. </a:t>
            </a:r>
            <a:r>
              <a:rPr lang="pt-BR" i="1" dirty="0"/>
              <a:t>Manual de </a:t>
            </a:r>
            <a:r>
              <a:rPr lang="pt-BR" i="1" dirty="0" err="1"/>
              <a:t>DevOps</a:t>
            </a:r>
            <a:r>
              <a:rPr lang="pt-BR" i="1" dirty="0"/>
              <a:t>.</a:t>
            </a:r>
            <a:r>
              <a:rPr lang="pt-BR" dirty="0"/>
              <a:t> Rio de Janeiro: Alta Books, 2018.</a:t>
            </a:r>
          </a:p>
          <a:p>
            <a:r>
              <a:rPr lang="pt-BR" dirty="0"/>
              <a:t>HUMBLE, </a:t>
            </a:r>
            <a:r>
              <a:rPr lang="pt-BR" dirty="0" err="1"/>
              <a:t>Jez</a:t>
            </a:r>
            <a:r>
              <a:rPr lang="pt-BR" dirty="0"/>
              <a:t>; FARLEY, David. </a:t>
            </a:r>
            <a:r>
              <a:rPr lang="pt-BR" i="1" dirty="0"/>
              <a:t>Entrega Contínua: como entregar software de forma rápida e confiável.</a:t>
            </a:r>
            <a:r>
              <a:rPr lang="pt-BR" dirty="0"/>
              <a:t> Porto Alegre: Bookman, 2014.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27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A88C-ECA9-CD2B-4A50-7DCB4895E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42A65-D384-EBFE-8CC3-812BAAE7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Referências complementares: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1B42-9526-C1E8-D609-8FD6FD1AA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2160590"/>
            <a:ext cx="7010401" cy="3880773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BEYER, Betsy et al. </a:t>
            </a:r>
            <a:r>
              <a:rPr lang="pt-BR" i="1" dirty="0"/>
              <a:t>Engenharia de Confiabilidade do Google (SRE).</a:t>
            </a:r>
            <a:r>
              <a:rPr lang="pt-BR" dirty="0"/>
              <a:t> São Paulo: </a:t>
            </a:r>
            <a:r>
              <a:rPr lang="pt-BR" dirty="0" err="1"/>
              <a:t>Novatec</a:t>
            </a:r>
            <a:r>
              <a:rPr lang="pt-BR" dirty="0"/>
              <a:t>, 2016.</a:t>
            </a:r>
          </a:p>
          <a:p>
            <a:pPr fontAlgn="base"/>
            <a:r>
              <a:rPr lang="pt-BR" dirty="0"/>
              <a:t>KANE, Sean P.; MATTHIAS, Karl. </a:t>
            </a:r>
            <a:r>
              <a:rPr lang="pt-BR" i="1" dirty="0"/>
              <a:t>Docker em prática</a:t>
            </a:r>
            <a:r>
              <a:rPr lang="pt-BR" dirty="0"/>
              <a:t>. 2. ed. São Paulo: </a:t>
            </a:r>
            <a:r>
              <a:rPr lang="pt-BR" dirty="0" err="1"/>
              <a:t>Novatec</a:t>
            </a:r>
            <a:r>
              <a:rPr lang="pt-BR" dirty="0"/>
              <a:t>, 2019.</a:t>
            </a:r>
          </a:p>
          <a:p>
            <a:pPr fontAlgn="base"/>
            <a:r>
              <a:rPr lang="pt-BR" dirty="0"/>
              <a:t>KIM, Gene; HUMBLE, </a:t>
            </a:r>
            <a:r>
              <a:rPr lang="pt-BR" dirty="0" err="1"/>
              <a:t>Jez</a:t>
            </a:r>
            <a:r>
              <a:rPr lang="pt-BR" dirty="0"/>
              <a:t>; DEBOIS, Patrick; WILLIS, John. </a:t>
            </a:r>
            <a:r>
              <a:rPr lang="pt-BR" i="1" dirty="0"/>
              <a:t>Manual de </a:t>
            </a:r>
            <a:r>
              <a:rPr lang="pt-BR" i="1" dirty="0" err="1"/>
              <a:t>DevOps</a:t>
            </a:r>
            <a:r>
              <a:rPr lang="pt-BR" i="1" dirty="0"/>
              <a:t>: como obter agilidade, confiabilidade e segurança em organizações tecnológicas</a:t>
            </a:r>
            <a:r>
              <a:rPr lang="pt-BR" dirty="0"/>
              <a:t>. 1. ed. Rio de Janeiro: Alta Books, 2018.</a:t>
            </a:r>
          </a:p>
          <a:p>
            <a:pPr fontAlgn="base"/>
            <a:r>
              <a:rPr lang="pt-BR" dirty="0"/>
              <a:t>FOGGETTI, Cristiano. </a:t>
            </a:r>
            <a:r>
              <a:rPr lang="pt-BR" i="1" dirty="0"/>
              <a:t>Gestão Ágil de Projetos</a:t>
            </a:r>
            <a:r>
              <a:rPr lang="pt-BR" dirty="0"/>
              <a:t>. Pearson, 2015.</a:t>
            </a:r>
          </a:p>
          <a:p>
            <a:r>
              <a:rPr lang="pt-BR" dirty="0"/>
              <a:t>NEWMAN, Sam. </a:t>
            </a:r>
            <a:r>
              <a:rPr lang="pt-BR" i="1" dirty="0"/>
              <a:t>Construindo </a:t>
            </a:r>
            <a:r>
              <a:rPr lang="pt-BR" i="1" dirty="0" err="1"/>
              <a:t>Microserviços</a:t>
            </a:r>
            <a:r>
              <a:rPr lang="pt-BR" dirty="0"/>
              <a:t>. 2. ed. São Paulo: </a:t>
            </a:r>
            <a:r>
              <a:rPr lang="pt-BR" dirty="0" err="1"/>
              <a:t>Novatec</a:t>
            </a:r>
            <a:r>
              <a:rPr lang="pt-BR" dirty="0"/>
              <a:t>, 2021.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5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da Disciplina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Lista de exercícios</a:t>
            </a:r>
          </a:p>
          <a:p>
            <a:pPr lvl="0"/>
            <a:r>
              <a:rPr lang="pt-BR" b="1" dirty="0"/>
              <a:t>Testes práticos</a:t>
            </a:r>
          </a:p>
          <a:p>
            <a:pPr lvl="0"/>
            <a:r>
              <a:rPr lang="pt-BR" b="1" dirty="0"/>
              <a:t>Prova Individual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10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772400" cy="990600"/>
          </a:xfrm>
        </p:spPr>
        <p:txBody>
          <a:bodyPr>
            <a:normAutofit/>
          </a:bodyPr>
          <a:lstStyle/>
          <a:p>
            <a:r>
              <a:rPr lang="pt-BR" b="1" dirty="0"/>
              <a:t>INFORMAÇÕES ADICIONAIS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697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aula começa e acaba no horário marcado</a:t>
            </a:r>
          </a:p>
          <a:p>
            <a:r>
              <a:rPr lang="pt-BR" dirty="0"/>
              <a:t>Presença</a:t>
            </a:r>
          </a:p>
          <a:p>
            <a:pPr lvl="1"/>
            <a:r>
              <a:rPr lang="pt-BR" dirty="0"/>
              <a:t>Farei chamada todos os dias;</a:t>
            </a:r>
          </a:p>
          <a:p>
            <a:pPr lvl="1"/>
            <a:r>
              <a:rPr lang="pt-BR" dirty="0"/>
              <a:t>Não posso realizar abono de falta; </a:t>
            </a:r>
          </a:p>
          <a:p>
            <a:pPr lvl="1"/>
            <a:r>
              <a:rPr lang="pt-BR" dirty="0"/>
              <a:t>Quem chegar atrasado, terá a presença equivalente ao tempo em sala de aula.</a:t>
            </a:r>
          </a:p>
        </p:txBody>
      </p:sp>
      <p:pic>
        <p:nvPicPr>
          <p:cNvPr id="1030" name="Picture 6" descr="http://www.viagemparanovayork.com.br/wp-content/uploads/2013/07/checklis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234" y="4719415"/>
            <a:ext cx="2916550" cy="1929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http://npnedicoes.positivo.com.br/livronamao/image/NPN%20225/Dicas/EDC88688EAB22610D962B36F2A2B6_h450_w598_m2_q90_cnDAuwLQU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6" t="6104" r="15061" b="31119"/>
          <a:stretch/>
        </p:blipFill>
        <p:spPr bwMode="auto">
          <a:xfrm>
            <a:off x="914400" y="4662288"/>
            <a:ext cx="3321692" cy="2043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74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Sugestões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Evitem o celular!</a:t>
            </a:r>
          </a:p>
          <a:p>
            <a:r>
              <a:rPr lang="pt-BR" dirty="0"/>
              <a:t>Prazos devem ser cumpridos!</a:t>
            </a:r>
          </a:p>
          <a:p>
            <a:endParaRPr lang="pt-BR" dirty="0"/>
          </a:p>
        </p:txBody>
      </p:sp>
      <p:pic>
        <p:nvPicPr>
          <p:cNvPr id="5" name="Picture 2" descr="http://4.bp.blogspot.com/-qWdAHw7WE-w/UAwk2jLGehI/AAAAAAAADys/9cv7-ScZcNg/s1600/5f8d6e139f8030835e382706f9c94150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246" y="1981200"/>
            <a:ext cx="2936966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://oabjoinville.org.br/fotosnoticias/prazo27011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78" y="3581400"/>
            <a:ext cx="4463322" cy="295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53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Indicações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Participem em qualquer momento:</a:t>
            </a:r>
          </a:p>
          <a:p>
            <a:pPr lvl="1"/>
            <a:r>
              <a:rPr lang="pt-BR" dirty="0"/>
              <a:t>Perguntem...</a:t>
            </a:r>
          </a:p>
          <a:p>
            <a:pPr lvl="1"/>
            <a:r>
              <a:rPr lang="pt-BR" dirty="0"/>
              <a:t>Complementem...</a:t>
            </a:r>
          </a:p>
          <a:p>
            <a:pPr lvl="1"/>
            <a:r>
              <a:rPr lang="pt-BR" dirty="0"/>
              <a:t>...</a:t>
            </a:r>
          </a:p>
          <a:p>
            <a:r>
              <a:rPr lang="pt-BR" dirty="0"/>
              <a:t>Não saiam da aula com dúvidas!!</a:t>
            </a:r>
          </a:p>
        </p:txBody>
      </p:sp>
      <p:pic>
        <p:nvPicPr>
          <p:cNvPr id="2050" name="Picture 2" descr="http://mundodasdicas.com.br/wp-content/uploads/2012/03/site-perguntas-resposta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4" r="56064"/>
          <a:stretch/>
        </p:blipFill>
        <p:spPr bwMode="auto">
          <a:xfrm>
            <a:off x="2667000" y="4136938"/>
            <a:ext cx="4120166" cy="2873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154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772400" cy="990600"/>
          </a:xfrm>
        </p:spPr>
        <p:txBody>
          <a:bodyPr>
            <a:normAutofit/>
          </a:bodyPr>
          <a:lstStyle/>
          <a:p>
            <a:r>
              <a:rPr lang="pt-BR" b="1" dirty="0"/>
              <a:t>Bora começar?!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3234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1568</TotalTime>
  <Words>390</Words>
  <Application>Microsoft Office PowerPoint</Application>
  <PresentationFormat>Apresentação na tela (4:3)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Facetado</vt:lpstr>
      <vt:lpstr>Gerenciamento de Configuração e Mudanças  Ementa  Prof. Ricson Santana</vt:lpstr>
      <vt:lpstr>Professor Ricson Santana</vt:lpstr>
      <vt:lpstr>Ementa da Disciplina</vt:lpstr>
      <vt:lpstr>Apresentação do PowerPoint</vt:lpstr>
      <vt:lpstr>Principais Bibliografias</vt:lpstr>
      <vt:lpstr>Referências complementares:</vt:lpstr>
      <vt:lpstr>Avaliação da Disciplina</vt:lpstr>
      <vt:lpstr>INFORMAÇÕES ADICIONAIS</vt:lpstr>
      <vt:lpstr>Regras da Disciplina</vt:lpstr>
      <vt:lpstr>Sugestões</vt:lpstr>
      <vt:lpstr>Indicações</vt:lpstr>
      <vt:lpstr>Bora começar?!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OPERAcIONAIS</dc:title>
  <dc:creator>Carolina Torres</dc:creator>
  <cp:lastModifiedBy>Ricson Santana</cp:lastModifiedBy>
  <cp:revision>52</cp:revision>
  <dcterms:created xsi:type="dcterms:W3CDTF">2006-08-16T00:00:00Z</dcterms:created>
  <dcterms:modified xsi:type="dcterms:W3CDTF">2026-03-30T11:41:30Z</dcterms:modified>
</cp:coreProperties>
</file>