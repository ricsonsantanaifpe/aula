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sldIdLst>
    <p:sldId id="256" r:id="rId2"/>
    <p:sldId id="297" r:id="rId3"/>
    <p:sldId id="298" r:id="rId4"/>
    <p:sldId id="302" r:id="rId5"/>
    <p:sldId id="303" r:id="rId6"/>
    <p:sldId id="304" r:id="rId7"/>
    <p:sldId id="299" r:id="rId8"/>
    <p:sldId id="300" r:id="rId9"/>
    <p:sldId id="301" r:id="rId10"/>
    <p:sldId id="29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70" autoAdjust="0"/>
    <p:restoredTop sz="94660"/>
  </p:normalViewPr>
  <p:slideViewPr>
    <p:cSldViewPr>
      <p:cViewPr varScale="1">
        <p:scale>
          <a:sx n="70" d="100"/>
          <a:sy n="70" d="100"/>
        </p:scale>
        <p:origin x="194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3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52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7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4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8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27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51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5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1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6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2461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06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1021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43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3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7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3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Script de computador em uma tela">
            <a:extLst>
              <a:ext uri="{FF2B5EF4-FFF2-40B4-BE49-F238E27FC236}">
                <a16:creationId xmlns:a16="http://schemas.microsoft.com/office/drawing/2014/main" id="{408EF9D1-8169-4F88-A84D-2D261C3DDDC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7018" r="41406" b="-2"/>
          <a:stretch>
            <a:fillRect/>
          </a:stretch>
        </p:blipFill>
        <p:spPr>
          <a:xfrm>
            <a:off x="3842657" y="-1"/>
            <a:ext cx="529896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3434" y="2854840"/>
            <a:ext cx="3842636" cy="2369093"/>
          </a:xfrm>
        </p:spPr>
        <p:txBody>
          <a:bodyPr>
            <a:normAutofit fontScale="90000"/>
          </a:bodyPr>
          <a:lstStyle/>
          <a:p>
            <a:r>
              <a:rPr lang="pt-BR" sz="2800" dirty="0">
                <a:solidFill>
                  <a:schemeClr val="tx1"/>
                </a:solidFill>
              </a:rPr>
              <a:t>Gerenciamento de Configuração e Mudanças</a:t>
            </a:r>
            <a:br>
              <a:rPr lang="pt-BR" sz="2800" dirty="0">
                <a:solidFill>
                  <a:schemeClr val="tx1"/>
                </a:solidFill>
              </a:rPr>
            </a:br>
            <a:br>
              <a:rPr lang="pt-BR" sz="2800">
                <a:solidFill>
                  <a:schemeClr val="tx1"/>
                </a:solidFill>
              </a:rPr>
            </a:br>
            <a:r>
              <a:rPr lang="pt-BR" sz="2800">
                <a:solidFill>
                  <a:schemeClr val="tx1"/>
                </a:solidFill>
              </a:rPr>
              <a:t>Conceitos</a:t>
            </a:r>
            <a:br>
              <a:rPr lang="pt-BR" sz="2800">
                <a:solidFill>
                  <a:schemeClr val="tx1"/>
                </a:solidFill>
              </a:rPr>
            </a:br>
            <a:br>
              <a:rPr lang="pt-BR" sz="2800" dirty="0">
                <a:solidFill>
                  <a:schemeClr val="tx1"/>
                </a:solidFill>
              </a:rPr>
            </a:br>
            <a:r>
              <a:rPr lang="pt-BR" sz="2800" dirty="0">
                <a:solidFill>
                  <a:schemeClr val="tx1"/>
                </a:solidFill>
              </a:rPr>
              <a:t>Prof. </a:t>
            </a:r>
            <a:r>
              <a:rPr lang="pt-BR" sz="2800" dirty="0" err="1">
                <a:solidFill>
                  <a:schemeClr val="tx1"/>
                </a:solidFill>
              </a:rPr>
              <a:t>Ricson</a:t>
            </a:r>
            <a:r>
              <a:rPr lang="pt-BR" sz="2800" dirty="0">
                <a:solidFill>
                  <a:schemeClr val="tx1"/>
                </a:solidFill>
              </a:rPr>
              <a:t> Santana</a:t>
            </a: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6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0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4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59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versionamento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534400" cy="35052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As </a:t>
            </a:r>
            <a:r>
              <a:rPr lang="pt-BR" b="1" dirty="0"/>
              <a:t>ferramentas de versionamento </a:t>
            </a:r>
            <a:r>
              <a:rPr lang="pt-BR" dirty="0"/>
              <a:t>(chamadas de VCS – </a:t>
            </a:r>
            <a:r>
              <a:rPr lang="pt-BR" dirty="0" err="1"/>
              <a:t>Version</a:t>
            </a:r>
            <a:r>
              <a:rPr lang="pt-BR" dirty="0"/>
              <a:t> </a:t>
            </a:r>
            <a:r>
              <a:rPr lang="pt-BR" dirty="0" err="1"/>
              <a:t>Control</a:t>
            </a:r>
            <a:r>
              <a:rPr lang="pt-BR" dirty="0"/>
              <a:t> System) fazem o controle e gerenciamento das diferentes </a:t>
            </a:r>
            <a:r>
              <a:rPr lang="pt-BR" b="1" dirty="0"/>
              <a:t>versões de um software</a:t>
            </a:r>
            <a:r>
              <a:rPr lang="pt-BR" dirty="0"/>
              <a:t>, documento ou qualquer outro tipo de artefato digital.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É essencial para acompanhar as alterações feitas ao longo do tempo, permitindo que desenvolvedores e colaboradores trabalhem de forma colaborativa, rastreiem mudanças, identifiquem problemas e garantam a integridade e consistência do produto final.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As ferramentas de versionamento criam uma forma centralizada de administrarmos </a:t>
            </a:r>
            <a:r>
              <a:rPr lang="pt-BR"/>
              <a:t>o código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5786E8-4249-05C7-337A-7439178BB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950" y="5105400"/>
            <a:ext cx="3843421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7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15992-B59D-CD6B-04ED-98CEC1687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3D7061-7E38-2F38-3486-9AEDB4BA0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7467600" cy="5181600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dirty="0"/>
              <a:t>é uma ferramenta </a:t>
            </a:r>
            <a:r>
              <a:rPr lang="pt-BR" i="1" dirty="0"/>
              <a:t>open </a:t>
            </a:r>
            <a:r>
              <a:rPr lang="pt-BR" i="1" dirty="0" err="1"/>
              <a:t>source</a:t>
            </a:r>
            <a:r>
              <a:rPr lang="pt-BR" i="1" dirty="0"/>
              <a:t> </a:t>
            </a:r>
            <a:r>
              <a:rPr lang="pt-BR" dirty="0"/>
              <a:t>desenvolvida para controle de versionamento de códigos, criada originalmente como uma ferramenta nativa ao Linux. </a:t>
            </a:r>
          </a:p>
          <a:p>
            <a:pPr algn="just"/>
            <a:r>
              <a:rPr lang="pt-BR" dirty="0"/>
              <a:t>Atualmente, o </a:t>
            </a:r>
            <a:r>
              <a:rPr lang="pt-BR" i="1" dirty="0" err="1"/>
              <a:t>Git</a:t>
            </a:r>
            <a:r>
              <a:rPr lang="pt-BR" i="1" dirty="0"/>
              <a:t> </a:t>
            </a:r>
            <a:r>
              <a:rPr lang="pt-BR" dirty="0"/>
              <a:t>possui portabilidade com diversos sistemas operacionais, além de funcionar nativamente em algumas </a:t>
            </a:r>
            <a:r>
              <a:rPr lang="pt-BR" dirty="0" err="1"/>
              <a:t>IDEs</a:t>
            </a:r>
            <a:r>
              <a:rPr lang="pt-BR" dirty="0"/>
              <a:t> – como o Visual Studi </a:t>
            </a:r>
            <a:r>
              <a:rPr lang="pt-BR" dirty="0" err="1"/>
              <a:t>Code</a:t>
            </a:r>
            <a:r>
              <a:rPr lang="pt-BR" dirty="0"/>
              <a:t> </a:t>
            </a:r>
          </a:p>
          <a:p>
            <a:pPr algn="just"/>
            <a:r>
              <a:rPr lang="pt-BR" dirty="0"/>
              <a:t>A grande diferença do </a:t>
            </a:r>
            <a:r>
              <a:rPr lang="pt-BR" dirty="0" err="1"/>
              <a:t>Git</a:t>
            </a:r>
            <a:r>
              <a:rPr lang="pt-BR" dirty="0"/>
              <a:t> para outros VCS</a:t>
            </a:r>
          </a:p>
          <a:p>
            <a:pPr lvl="1" algn="just"/>
            <a:r>
              <a:rPr lang="pt-BR" dirty="0"/>
              <a:t> é a forma como os dados são abordados </a:t>
            </a:r>
          </a:p>
          <a:p>
            <a:pPr lvl="1" algn="just"/>
            <a:r>
              <a:rPr lang="pt-BR" dirty="0"/>
              <a:t>Enquanto a maioria dos VCS armazenam informações como uma lista de mudanças, </a:t>
            </a:r>
          </a:p>
          <a:p>
            <a:pPr lvl="1" algn="just"/>
            <a:r>
              <a:rPr lang="pt-BR" dirty="0"/>
              <a:t>O </a:t>
            </a:r>
            <a:r>
              <a:rPr lang="pt-BR" dirty="0" err="1"/>
              <a:t>Git</a:t>
            </a:r>
            <a:r>
              <a:rPr lang="pt-BR" dirty="0"/>
              <a:t> aborda os dados como uma série de </a:t>
            </a:r>
            <a:r>
              <a:rPr lang="pt-BR" i="1" dirty="0"/>
              <a:t>snapshots</a:t>
            </a:r>
            <a:r>
              <a:rPr lang="pt-BR" dirty="0"/>
              <a:t>, fotografias do estado atual do sistema. </a:t>
            </a:r>
          </a:p>
          <a:p>
            <a:pPr algn="just"/>
            <a:r>
              <a:rPr lang="pt-BR" dirty="0"/>
              <a:t>Os comandos do </a:t>
            </a:r>
            <a:r>
              <a:rPr lang="pt-BR" dirty="0" err="1"/>
              <a:t>Git</a:t>
            </a:r>
            <a:r>
              <a:rPr lang="pt-BR" dirty="0"/>
              <a:t> </a:t>
            </a:r>
          </a:p>
          <a:p>
            <a:pPr algn="just"/>
            <a:r>
              <a:rPr lang="pt-BR" dirty="0"/>
              <a:t>– formas mais interativas, com interfaces de usuário (GUI), </a:t>
            </a:r>
          </a:p>
          <a:p>
            <a:pPr algn="just"/>
            <a:r>
              <a:rPr lang="pt-BR" dirty="0"/>
              <a:t>- formas mais técnicas, através de interfaces de linha de comando (CLI). </a:t>
            </a:r>
          </a:p>
        </p:txBody>
      </p:sp>
    </p:spTree>
    <p:extLst>
      <p:ext uri="{BB962C8B-B14F-4D97-AF65-F5344CB8AC3E}">
        <p14:creationId xmlns:p14="http://schemas.microsoft.com/office/powerpoint/2010/main" val="2281491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26F3A-8ED3-0E30-0D6C-3AD724FC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Git</a:t>
            </a:r>
            <a:r>
              <a:rPr lang="pt-BR" dirty="0"/>
              <a:t> x 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9F81EF-CA6A-7D6D-D17E-6E7BAA38F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2E13E8-3FEA-537A-E652-2D3639271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2160590"/>
            <a:ext cx="6486397" cy="348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4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7FEE-B0F4-91F3-E497-AB50EBAB2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3FE76-6D2F-D77B-C64A-28ECD5F58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Git</a:t>
            </a:r>
            <a:r>
              <a:rPr lang="pt-BR" dirty="0"/>
              <a:t> x 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ED796D-CAC2-95D1-9D79-5737E2B9D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347B0BC-1DB4-0CC2-E0EA-F8DF1D224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5" y="1676400"/>
            <a:ext cx="8059847" cy="527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62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B10FC-17D1-242B-86C8-D38390233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D3142-430B-2E86-768C-0A26E3E9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Git</a:t>
            </a:r>
            <a:r>
              <a:rPr lang="pt-BR" dirty="0"/>
              <a:t> x 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97D7AD-B091-BEB4-2869-C2250DEBE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9865993-B6DC-F164-606F-8D9A440FC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2" y="1941286"/>
            <a:ext cx="8964276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416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C6959-6877-20C9-3854-3ACC652E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fluxo de trabalho do </a:t>
            </a:r>
            <a:r>
              <a:rPr lang="pt-BR" dirty="0" err="1"/>
              <a:t>Git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106D58-67EB-96FE-A6E8-AEA48910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A7F035-7811-7B73-24D2-93884F2AD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12090"/>
            <a:ext cx="7162800" cy="551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209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123AA-0D5A-C23C-18C7-4C602A4DB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TRABALHO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0E06A0-A256-91FB-5A4F-A2F98A962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24000"/>
            <a:ext cx="8458200" cy="2133599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r>
              <a:rPr lang="pt-BR" dirty="0"/>
              <a:t>A árvore de trabalho (</a:t>
            </a:r>
            <a:r>
              <a:rPr lang="pt-BR" b="1" dirty="0" err="1"/>
              <a:t>working</a:t>
            </a:r>
            <a:r>
              <a:rPr lang="pt-BR" b="1" dirty="0"/>
              <a:t> </a:t>
            </a:r>
            <a:r>
              <a:rPr lang="pt-BR" b="1" dirty="0" err="1"/>
              <a:t>tree</a:t>
            </a:r>
            <a:r>
              <a:rPr lang="pt-BR" dirty="0"/>
              <a:t>) é uma forma de visualizar e controlar as diferentes versões do trabalho. </a:t>
            </a:r>
          </a:p>
          <a:p>
            <a:r>
              <a:rPr lang="pt-BR" dirty="0"/>
              <a:t>Ela é o diretório do sistema de arquivos, é onde você edita, adiciona ou remove versões. </a:t>
            </a:r>
          </a:p>
          <a:p>
            <a:r>
              <a:rPr lang="pt-BR" dirty="0"/>
              <a:t>Imagine cada versão como um nó nessa árvore – vamos da versão 0 para a versão 1, avançamos um nó; podemos ter um nó paralelo, com outras funcionalidades, e assim por diante. O relacionamento entre esses nós cria uma figura de árvore.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505B4E6-A0CA-A8B3-35D5-A00D2B8B4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3760208"/>
            <a:ext cx="9144000" cy="309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4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3D882-39EA-76E5-E247-7D3253D0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TRABALHO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48A16E-E4A5-4E3C-BE4C-AB30065E2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iniciar um repositório </a:t>
            </a:r>
            <a:r>
              <a:rPr lang="pt-BR" dirty="0" err="1"/>
              <a:t>Git</a:t>
            </a:r>
            <a:r>
              <a:rPr lang="pt-BR" dirty="0"/>
              <a:t> na sua máquina local – 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init</a:t>
            </a:r>
            <a:endParaRPr lang="pt-BR" dirty="0"/>
          </a:p>
          <a:p>
            <a:endParaRPr lang="pt-BR" dirty="0"/>
          </a:p>
          <a:p>
            <a:r>
              <a:rPr lang="pt-BR" dirty="0"/>
              <a:t>Pode ser que você queira puxar um repositório da internet pronto, para trabalhar em mudanças localmente em algo que já exista. Para isso, usamos a ferramenta de clone: 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clone</a:t>
            </a:r>
          </a:p>
        </p:txBody>
      </p:sp>
    </p:spTree>
    <p:extLst>
      <p:ext uri="{BB962C8B-B14F-4D97-AF65-F5344CB8AC3E}">
        <p14:creationId xmlns:p14="http://schemas.microsoft.com/office/powerpoint/2010/main" val="1128252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772400" cy="990600"/>
          </a:xfrm>
        </p:spPr>
        <p:txBody>
          <a:bodyPr>
            <a:normAutofit/>
          </a:bodyPr>
          <a:lstStyle/>
          <a:p>
            <a:r>
              <a:rPr lang="pt-BR" b="1" dirty="0"/>
              <a:t>Bora começar?!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3234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6950</TotalTime>
  <Words>386</Words>
  <Application>Microsoft Office PowerPoint</Application>
  <PresentationFormat>Apresentação na tela (4:3)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Facetado</vt:lpstr>
      <vt:lpstr>Gerenciamento de Configuração e Mudanças  Conceitos  Prof. Ricson Santana</vt:lpstr>
      <vt:lpstr>O que é versionamento </vt:lpstr>
      <vt:lpstr>GIT</vt:lpstr>
      <vt:lpstr>Git x GitHub</vt:lpstr>
      <vt:lpstr>Git x GitHub</vt:lpstr>
      <vt:lpstr>Git x GitHub</vt:lpstr>
      <vt:lpstr>O fluxo de trabalho do Git </vt:lpstr>
      <vt:lpstr>ÁRVORE DE TRABALHO </vt:lpstr>
      <vt:lpstr>FLUXO DE TRABALHO </vt:lpstr>
      <vt:lpstr>Bora começar?!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OPERAcIONAIS</dc:title>
  <dc:creator>Carolina Torres</dc:creator>
  <cp:lastModifiedBy>Ricson Santana</cp:lastModifiedBy>
  <cp:revision>57</cp:revision>
  <dcterms:created xsi:type="dcterms:W3CDTF">2006-08-16T00:00:00Z</dcterms:created>
  <dcterms:modified xsi:type="dcterms:W3CDTF">2026-04-05T14:26:46Z</dcterms:modified>
</cp:coreProperties>
</file>